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DLaM Display" panose="02010000000000000000"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Header - contains instructions about the data and has several parts</a:t>
            </a:r>
          </a:p>
          <a:p>
            <a:endParaRPr lang="en-US"/>
          </a:p>
          <a:p>
            <a:r>
              <a:rPr lang="en-US"/>
              <a:t>Payload - Body of data packet that contains the actual data that is being sent/received</a:t>
            </a:r>
          </a:p>
          <a:p>
            <a:endParaRPr lang="en-US"/>
          </a:p>
          <a:p>
            <a:r>
              <a:rPr lang="en-US"/>
              <a:t>Trailer - used to inform the receiving device that it is the end of the packet. </a:t>
            </a:r>
          </a:p>
          <a:p>
            <a:endParaRPr lang="en-US"/>
          </a:p>
          <a:p>
            <a:r>
              <a:rPr lang="en-US"/>
              <a:t>This is where the error checking happens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Origin IP</a:t>
            </a:r>
          </a:p>
          <a:p>
            <a:r>
              <a:rPr lang="en-US"/>
              <a:t>Destination IP</a:t>
            </a:r>
          </a:p>
          <a:p>
            <a:endParaRPr lang="en-US"/>
          </a:p>
          <a:p>
            <a:r>
              <a:rPr lang="en-US"/>
              <a:t>Internet protocol</a:t>
            </a:r>
          </a:p>
          <a:p>
            <a:endParaRPr lang="en-US"/>
          </a:p>
          <a:p>
            <a:r>
              <a:rPr lang="en-US"/>
              <a:t>Size of the header and payload</a:t>
            </a:r>
          </a:p>
          <a:p>
            <a:endParaRPr lang="en-US"/>
          </a:p>
          <a:p>
            <a:r>
              <a:rPr lang="en-US"/>
              <a:t>Hops - number of routers will pass through</a:t>
            </a:r>
          </a:p>
          <a:p>
            <a:r>
              <a:rPr lang="en-US"/>
              <a:t>TTL - amount of time it exists within the network before being discarded</a:t>
            </a:r>
          </a:p>
          <a:p>
            <a:endParaRPr lang="en-US"/>
          </a:p>
          <a:p>
            <a:r>
              <a:rPr lang="en-US"/>
              <a:t>Flags - used to inform the router if the packet can be divided into datagrams</a:t>
            </a:r>
          </a:p>
          <a:p>
            <a:endParaRPr lang="en-US"/>
          </a:p>
          <a:p>
            <a:r>
              <a:rPr lang="en-US"/>
              <a:t>Checksum - error check</a:t>
            </a:r>
          </a:p>
          <a:p>
            <a:endParaRPr lang="en-US"/>
          </a:p>
          <a:p>
            <a:r>
              <a:rPr lang="en-US"/>
              <a:t>Packet number - the number of the packet where there is a sequence of packets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CRC is in the data packet trailer and  adds up all the 1's in the payload and stores the results as hexadecimal</a:t>
            </a:r>
          </a:p>
          <a:p>
            <a:endParaRPr lang="en-US"/>
          </a:p>
          <a:p>
            <a:r>
              <a:rPr lang="en-US"/>
              <a:t>On receiving the data packet, the receiving device will add up the number of ones in the payload and compare it with the hexadecimal value stored in the trailer.</a:t>
            </a:r>
          </a:p>
          <a:p>
            <a:endParaRPr lang="en-US"/>
          </a:p>
          <a:p>
            <a:r>
              <a:rPr lang="en-US"/>
              <a:t>When the two values match, there is confirmation that there was no error during transmission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happens if a router loses a packet?</a:t>
            </a:r>
          </a:p>
          <a:p>
            <a:endParaRPr lang="en-US"/>
          </a:p>
          <a:p>
            <a:r>
              <a:rPr lang="en-US"/>
              <a:t>Network congestion</a:t>
            </a:r>
          </a:p>
          <a:p>
            <a:endParaRPr lang="en-US"/>
          </a:p>
          <a:p>
            <a:r>
              <a:rPr lang="en-US"/>
              <a:t>Faulty or overloaded hardware</a:t>
            </a:r>
          </a:p>
          <a:p>
            <a:endParaRPr lang="en-US"/>
          </a:p>
          <a:p>
            <a:r>
              <a:rPr lang="en-US"/>
              <a:t>Signal interferance</a:t>
            </a:r>
          </a:p>
          <a:p>
            <a:endParaRPr lang="en-US"/>
          </a:p>
          <a:p>
            <a:r>
              <a:rPr lang="en-US"/>
              <a:t>Buffer overflow</a:t>
            </a:r>
          </a:p>
          <a:p>
            <a:endParaRPr lang="en-US"/>
          </a:p>
          <a:p>
            <a:r>
              <a:rPr lang="en-US"/>
              <a:t>Packet corruption</a:t>
            </a:r>
          </a:p>
          <a:p>
            <a:endParaRPr lang="en-US"/>
          </a:p>
          <a:p>
            <a:r>
              <a:rPr lang="en-US"/>
              <a:t>Routing errors</a:t>
            </a:r>
          </a:p>
          <a:p>
            <a:endParaRPr lang="en-US"/>
          </a:p>
          <a:p>
            <a:r>
              <a:rPr lang="en-US"/>
              <a:t>Maximum transmission unit issues</a:t>
            </a:r>
          </a:p>
          <a:p>
            <a:endParaRPr lang="en-US"/>
          </a:p>
          <a:p>
            <a:r>
              <a:rPr lang="en-US"/>
              <a:t>Firewall/security filtering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server stores data, apps and services</a:t>
            </a:r>
          </a:p>
          <a:p>
            <a:endParaRPr lang="en-US"/>
          </a:p>
          <a:p>
            <a:r>
              <a:rPr lang="en-US"/>
              <a:t>The waiter/kitchen providing what the customer asked for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Create protocol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CRC is in the data packet trailer and  adds up all the 1's in the payload and stores the results as hexadecimal</a:t>
            </a:r>
          </a:p>
          <a:p>
            <a:endParaRPr lang="en-US"/>
          </a:p>
          <a:p>
            <a:r>
              <a:rPr lang="en-US"/>
              <a:t>On receiving the data packet, the receiving device will add up the number of ones in the payload and compare it with the hexadecimal value stored in the trailer.</a:t>
            </a:r>
          </a:p>
          <a:p>
            <a:endParaRPr lang="en-US"/>
          </a:p>
          <a:p>
            <a:r>
              <a:rPr lang="en-US"/>
              <a:t>When the two values match, there is confirmation that there was no error during transmission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Directs traffic between LANs and the internet using an IP address</a:t>
            </a:r>
          </a:p>
          <a:p>
            <a:endParaRPr lang="en-US"/>
          </a:p>
          <a:p>
            <a:r>
              <a:rPr lang="en-US"/>
              <a:t>Like a traffic controller or a motorway junction deciding each road each packet should take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ideo" Target="https://www.youtube.com/watch?v=cB_mdFUkzwQ" TargetMode="External"/><Relationship Id="rId5" Type="http://schemas.openxmlformats.org/officeDocument/2006/relationships/image" Target="../media/image16.jpe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6481449" y="4263161"/>
            <a:ext cx="5032885" cy="4995139"/>
          </a:xfrm>
          <a:custGeom>
            <a:avLst/>
            <a:gdLst/>
            <a:ahLst/>
            <a:cxnLst/>
            <a:rect l="l" t="t" r="r" b="b"/>
            <a:pathLst>
              <a:path w="5032885" h="4995139">
                <a:moveTo>
                  <a:pt x="0" y="0"/>
                </a:moveTo>
                <a:lnTo>
                  <a:pt x="5032885" y="0"/>
                </a:lnTo>
                <a:lnTo>
                  <a:pt x="5032885" y="4995139"/>
                </a:lnTo>
                <a:lnTo>
                  <a:pt x="0" y="4995139"/>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0" y="174155"/>
            <a:ext cx="17995782" cy="3779523"/>
          </a:xfrm>
          <a:prstGeom prst="rect">
            <a:avLst/>
          </a:prstGeom>
        </p:spPr>
        <p:txBody>
          <a:bodyPr lIns="0" tIns="0" rIns="0" bIns="0" rtlCol="0" anchor="t">
            <a:spAutoFit/>
          </a:bodyPr>
          <a:lstStyle/>
          <a:p>
            <a:pPr algn="ctr">
              <a:lnSpc>
                <a:spcPts val="10079"/>
              </a:lnSpc>
            </a:pPr>
            <a:r>
              <a:rPr lang="en-US" sz="7199">
                <a:solidFill>
                  <a:srgbClr val="000C7D"/>
                </a:solidFill>
                <a:latin typeface="ADLaM Display"/>
                <a:ea typeface="ADLaM Display"/>
                <a:cs typeface="ADLaM Display"/>
                <a:sym typeface="ADLaM Display"/>
              </a:rPr>
              <a:t>Without using your notes, can you remember the 7 layers of the OSI Layer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2"/>
            <a:stretch>
              <a:fillRect/>
            </a:stretch>
          </a:blipFill>
        </p:spPr>
        <p:txBody>
          <a:bodyPr/>
          <a:lstStyle/>
          <a:p>
            <a:endParaRPr lang="en-GB"/>
          </a:p>
        </p:txBody>
      </p:sp>
      <p:sp>
        <p:nvSpPr>
          <p:cNvPr id="3" name="Freeform 3"/>
          <p:cNvSpPr/>
          <p:nvPr/>
        </p:nvSpPr>
        <p:spPr>
          <a:xfrm>
            <a:off x="14974839" y="3435897"/>
            <a:ext cx="3026111" cy="4114800"/>
          </a:xfrm>
          <a:custGeom>
            <a:avLst/>
            <a:gdLst/>
            <a:ahLst/>
            <a:cxnLst/>
            <a:rect l="l" t="t" r="r" b="b"/>
            <a:pathLst>
              <a:path w="3026111" h="4114800">
                <a:moveTo>
                  <a:pt x="0" y="0"/>
                </a:moveTo>
                <a:lnTo>
                  <a:pt x="3026111" y="0"/>
                </a:lnTo>
                <a:lnTo>
                  <a:pt x="302611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TextBox 4"/>
          <p:cNvSpPr txBox="1"/>
          <p:nvPr/>
        </p:nvSpPr>
        <p:spPr>
          <a:xfrm>
            <a:off x="1219200" y="1599341"/>
            <a:ext cx="14818001" cy="1078230"/>
          </a:xfrm>
          <a:prstGeom prst="rect">
            <a:avLst/>
          </a:prstGeom>
        </p:spPr>
        <p:txBody>
          <a:bodyPr wrap="square" lIns="0" tIns="0" rIns="0" bIns="0" rtlCol="0" anchor="t">
            <a:spAutoFit/>
          </a:bodyPr>
          <a:lstStyle/>
          <a:p>
            <a:pPr algn="ctr">
              <a:lnSpc>
                <a:spcPts val="8819"/>
              </a:lnSpc>
            </a:pPr>
            <a:r>
              <a:rPr lang="en-US" sz="6300" dirty="0">
                <a:solidFill>
                  <a:srgbClr val="000C7D"/>
                </a:solidFill>
                <a:latin typeface="ADLaM Display"/>
                <a:ea typeface="ADLaM Display"/>
                <a:cs typeface="ADLaM Display"/>
                <a:sym typeface="ADLaM Display"/>
              </a:rPr>
              <a:t>What layer would a router operate at?</a:t>
            </a:r>
          </a:p>
        </p:txBody>
      </p:sp>
      <p:sp>
        <p:nvSpPr>
          <p:cNvPr id="5" name="TextBox 5"/>
          <p:cNvSpPr txBox="1"/>
          <p:nvPr/>
        </p:nvSpPr>
        <p:spPr>
          <a:xfrm>
            <a:off x="1262137" y="3203123"/>
            <a:ext cx="14818001" cy="1078232"/>
          </a:xfrm>
          <a:prstGeom prst="rect">
            <a:avLst/>
          </a:prstGeom>
        </p:spPr>
        <p:txBody>
          <a:bodyPr wrap="square" lIns="0" tIns="0" rIns="0" bIns="0" rtlCol="0" anchor="t">
            <a:spAutoFit/>
          </a:bodyPr>
          <a:lstStyle/>
          <a:p>
            <a:pPr algn="ctr">
              <a:lnSpc>
                <a:spcPts val="8819"/>
              </a:lnSpc>
            </a:pPr>
            <a:r>
              <a:rPr lang="en-US" sz="6299" dirty="0">
                <a:solidFill>
                  <a:srgbClr val="000C7D"/>
                </a:solidFill>
                <a:latin typeface="ADLaM Display"/>
                <a:ea typeface="ADLaM Display"/>
                <a:cs typeface="ADLaM Display"/>
                <a:sym typeface="ADLaM Display"/>
              </a:rPr>
              <a:t>What layer would a switch operate at?</a:t>
            </a:r>
          </a:p>
        </p:txBody>
      </p:sp>
      <p:sp>
        <p:nvSpPr>
          <p:cNvPr id="6" name="TextBox 6"/>
          <p:cNvSpPr txBox="1"/>
          <p:nvPr/>
        </p:nvSpPr>
        <p:spPr>
          <a:xfrm>
            <a:off x="1371600" y="4805230"/>
            <a:ext cx="14538279" cy="1078230"/>
          </a:xfrm>
          <a:prstGeom prst="rect">
            <a:avLst/>
          </a:prstGeom>
        </p:spPr>
        <p:txBody>
          <a:bodyPr wrap="square" lIns="0" tIns="0" rIns="0" bIns="0" rtlCol="0" anchor="t">
            <a:spAutoFit/>
          </a:bodyPr>
          <a:lstStyle/>
          <a:p>
            <a:pPr algn="ctr">
              <a:lnSpc>
                <a:spcPts val="8819"/>
              </a:lnSpc>
            </a:pPr>
            <a:r>
              <a:rPr lang="en-US" sz="6300" dirty="0">
                <a:solidFill>
                  <a:srgbClr val="000C7D"/>
                </a:solidFill>
                <a:latin typeface="ADLaM Display"/>
                <a:ea typeface="ADLaM Display"/>
                <a:cs typeface="ADLaM Display"/>
                <a:sym typeface="ADLaM Display"/>
              </a:rPr>
              <a:t>What does the presentation layer do?</a:t>
            </a:r>
          </a:p>
        </p:txBody>
      </p:sp>
      <p:sp>
        <p:nvSpPr>
          <p:cNvPr id="7" name="TextBox 7"/>
          <p:cNvSpPr txBox="1"/>
          <p:nvPr/>
        </p:nvSpPr>
        <p:spPr>
          <a:xfrm>
            <a:off x="4164657" y="6225530"/>
            <a:ext cx="9958685" cy="1078230"/>
          </a:xfrm>
          <a:prstGeom prst="rect">
            <a:avLst/>
          </a:prstGeom>
        </p:spPr>
        <p:txBody>
          <a:bodyPr lIns="0" tIns="0" rIns="0" bIns="0" rtlCol="0" anchor="t">
            <a:spAutoFit/>
          </a:bodyPr>
          <a:lstStyle/>
          <a:p>
            <a:pPr algn="ctr">
              <a:lnSpc>
                <a:spcPts val="8819"/>
              </a:lnSpc>
            </a:pPr>
            <a:r>
              <a:rPr lang="en-US" sz="6300">
                <a:solidFill>
                  <a:srgbClr val="000C7D"/>
                </a:solidFill>
                <a:latin typeface="ADLaM Display"/>
                <a:ea typeface="ADLaM Display"/>
                <a:cs typeface="ADLaM Display"/>
                <a:sym typeface="ADLaM Display"/>
              </a:rPr>
              <a:t>What does PAN stand for?</a:t>
            </a:r>
          </a:p>
        </p:txBody>
      </p:sp>
      <p:sp>
        <p:nvSpPr>
          <p:cNvPr id="8" name="TextBox 8"/>
          <p:cNvSpPr txBox="1"/>
          <p:nvPr/>
        </p:nvSpPr>
        <p:spPr>
          <a:xfrm>
            <a:off x="7391401" y="81985"/>
            <a:ext cx="3358456" cy="1322350"/>
          </a:xfrm>
          <a:prstGeom prst="rect">
            <a:avLst/>
          </a:prstGeom>
        </p:spPr>
        <p:txBody>
          <a:bodyPr wrap="square" lIns="0" tIns="0" rIns="0" bIns="0" rtlCol="0" anchor="t">
            <a:spAutoFit/>
          </a:bodyPr>
          <a:lstStyle/>
          <a:p>
            <a:pPr algn="ctr">
              <a:lnSpc>
                <a:spcPts val="11200"/>
              </a:lnSpc>
            </a:pPr>
            <a:r>
              <a:rPr lang="en-US" sz="8000" dirty="0">
                <a:solidFill>
                  <a:srgbClr val="000C7D"/>
                </a:solidFill>
                <a:latin typeface="ADLaM Display"/>
                <a:ea typeface="ADLaM Display"/>
                <a:cs typeface="ADLaM Display"/>
                <a:sym typeface="ADLaM Display"/>
              </a:rPr>
              <a:t>Recap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2"/>
            <a:stretch>
              <a:fillRect/>
            </a:stretch>
          </a:blipFill>
        </p:spPr>
        <p:txBody>
          <a:bodyPr/>
          <a:lstStyle/>
          <a:p>
            <a:endParaRPr lang="en-GB"/>
          </a:p>
        </p:txBody>
      </p:sp>
      <p:sp>
        <p:nvSpPr>
          <p:cNvPr id="3" name="Freeform 3"/>
          <p:cNvSpPr/>
          <p:nvPr/>
        </p:nvSpPr>
        <p:spPr>
          <a:xfrm>
            <a:off x="7467474" y="6987145"/>
            <a:ext cx="3669090" cy="3045345"/>
          </a:xfrm>
          <a:custGeom>
            <a:avLst/>
            <a:gdLst/>
            <a:ahLst/>
            <a:cxnLst/>
            <a:rect l="l" t="t" r="r" b="b"/>
            <a:pathLst>
              <a:path w="3669090" h="3045345">
                <a:moveTo>
                  <a:pt x="0" y="0"/>
                </a:moveTo>
                <a:lnTo>
                  <a:pt x="3669090" y="0"/>
                </a:lnTo>
                <a:lnTo>
                  <a:pt x="3669090" y="3045345"/>
                </a:lnTo>
                <a:lnTo>
                  <a:pt x="0" y="30453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TextBox 4"/>
          <p:cNvSpPr txBox="1"/>
          <p:nvPr/>
        </p:nvSpPr>
        <p:spPr>
          <a:xfrm>
            <a:off x="4831010" y="404918"/>
            <a:ext cx="8625979" cy="2503173"/>
          </a:xfrm>
          <a:prstGeom prst="rect">
            <a:avLst/>
          </a:prstGeom>
        </p:spPr>
        <p:txBody>
          <a:bodyPr lIns="0" tIns="0" rIns="0" bIns="0" rtlCol="0" anchor="t">
            <a:spAutoFit/>
          </a:bodyPr>
          <a:lstStyle/>
          <a:p>
            <a:pPr algn="ctr">
              <a:lnSpc>
                <a:spcPts val="10079"/>
              </a:lnSpc>
            </a:pPr>
            <a:r>
              <a:rPr lang="en-US" sz="7199">
                <a:solidFill>
                  <a:srgbClr val="000C7D"/>
                </a:solidFill>
                <a:latin typeface="ADLaM Display"/>
                <a:ea typeface="ADLaM Display"/>
                <a:cs typeface="ADLaM Display"/>
                <a:sym typeface="ADLaM Display"/>
              </a:rPr>
              <a:t>Learning Objectives</a:t>
            </a:r>
          </a:p>
          <a:p>
            <a:pPr algn="ctr">
              <a:lnSpc>
                <a:spcPts val="10079"/>
              </a:lnSpc>
            </a:pPr>
            <a:endParaRPr lang="en-US" sz="7199">
              <a:solidFill>
                <a:srgbClr val="000C7D"/>
              </a:solidFill>
              <a:latin typeface="ADLaM Display"/>
              <a:ea typeface="ADLaM Display"/>
              <a:cs typeface="ADLaM Display"/>
              <a:sym typeface="ADLaM Display"/>
            </a:endParaRPr>
          </a:p>
        </p:txBody>
      </p:sp>
      <p:sp>
        <p:nvSpPr>
          <p:cNvPr id="5" name="TextBox 5"/>
          <p:cNvSpPr txBox="1"/>
          <p:nvPr/>
        </p:nvSpPr>
        <p:spPr>
          <a:xfrm>
            <a:off x="1766560" y="5081021"/>
            <a:ext cx="16243789" cy="1393824"/>
          </a:xfrm>
          <a:prstGeom prst="rect">
            <a:avLst/>
          </a:prstGeom>
        </p:spPr>
        <p:txBody>
          <a:bodyPr lIns="0" tIns="0" rIns="0" bIns="0" rtlCol="0" anchor="t">
            <a:spAutoFit/>
          </a:bodyPr>
          <a:lstStyle/>
          <a:p>
            <a:pPr algn="ctr">
              <a:lnSpc>
                <a:spcPts val="5600"/>
              </a:lnSpc>
            </a:pPr>
            <a:r>
              <a:rPr lang="en-US" sz="4000">
                <a:solidFill>
                  <a:srgbClr val="000C7D"/>
                </a:solidFill>
                <a:latin typeface="ADLaM Display"/>
                <a:ea typeface="ADLaM Display"/>
                <a:cs typeface="ADLaM Display"/>
                <a:sym typeface="ADLaM Display"/>
              </a:rPr>
              <a:t>Demonstrate understanding of packet switching, error detection, bandwidth and latency </a:t>
            </a:r>
          </a:p>
        </p:txBody>
      </p:sp>
      <p:sp>
        <p:nvSpPr>
          <p:cNvPr id="6" name="TextBox 6"/>
          <p:cNvSpPr txBox="1"/>
          <p:nvPr/>
        </p:nvSpPr>
        <p:spPr>
          <a:xfrm>
            <a:off x="2667001" y="3965471"/>
            <a:ext cx="13836068" cy="661143"/>
          </a:xfrm>
          <a:prstGeom prst="rect">
            <a:avLst/>
          </a:prstGeom>
        </p:spPr>
        <p:txBody>
          <a:bodyPr wrap="square" lIns="0" tIns="0" rIns="0" bIns="0" rtlCol="0" anchor="t">
            <a:spAutoFit/>
          </a:bodyPr>
          <a:lstStyle/>
          <a:p>
            <a:pPr algn="ctr">
              <a:lnSpc>
                <a:spcPts val="5600"/>
              </a:lnSpc>
            </a:pPr>
            <a:r>
              <a:rPr lang="en-US" sz="4000" dirty="0">
                <a:solidFill>
                  <a:srgbClr val="000C7D"/>
                </a:solidFill>
                <a:latin typeface="ADLaM Display"/>
                <a:ea typeface="ADLaM Display"/>
                <a:cs typeface="ADLaM Display"/>
                <a:sym typeface="ADLaM Display"/>
              </a:rPr>
              <a:t>Explain how data packets are structured and transmitted</a:t>
            </a:r>
          </a:p>
        </p:txBody>
      </p:sp>
      <p:sp>
        <p:nvSpPr>
          <p:cNvPr id="7" name="TextBox 7"/>
          <p:cNvSpPr txBox="1"/>
          <p:nvPr/>
        </p:nvSpPr>
        <p:spPr>
          <a:xfrm>
            <a:off x="593689" y="2168317"/>
            <a:ext cx="17416660" cy="1393824"/>
          </a:xfrm>
          <a:prstGeom prst="rect">
            <a:avLst/>
          </a:prstGeom>
        </p:spPr>
        <p:txBody>
          <a:bodyPr lIns="0" tIns="0" rIns="0" bIns="0" rtlCol="0" anchor="t">
            <a:spAutoFit/>
          </a:bodyPr>
          <a:lstStyle/>
          <a:p>
            <a:pPr algn="ctr">
              <a:lnSpc>
                <a:spcPts val="5600"/>
              </a:lnSpc>
            </a:pPr>
            <a:r>
              <a:rPr lang="en-US" sz="4000">
                <a:solidFill>
                  <a:srgbClr val="000C7D"/>
                </a:solidFill>
                <a:latin typeface="ADLaM Display"/>
                <a:ea typeface="ADLaM Display"/>
                <a:cs typeface="ADLaM Display"/>
                <a:sym typeface="ADLaM Display"/>
              </a:rPr>
              <a:t>Describe the role of common network protocols and identify their OSI layer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221227" y="373377"/>
            <a:ext cx="18066773" cy="8884923"/>
          </a:xfrm>
          <a:prstGeom prst="rect">
            <a:avLst/>
          </a:prstGeom>
        </p:spPr>
        <p:txBody>
          <a:bodyPr lIns="0" tIns="0" rIns="0" bIns="0" rtlCol="0" anchor="t">
            <a:spAutoFit/>
          </a:bodyPr>
          <a:lstStyle/>
          <a:p>
            <a:pPr algn="ctr">
              <a:lnSpc>
                <a:spcPts val="10079"/>
              </a:lnSpc>
            </a:pPr>
            <a:r>
              <a:rPr lang="en-US" sz="7199">
                <a:solidFill>
                  <a:srgbClr val="000C7D"/>
                </a:solidFill>
                <a:latin typeface="ADLaM Display"/>
                <a:ea typeface="ADLaM Display"/>
                <a:cs typeface="ADLaM Display"/>
                <a:sym typeface="ADLaM Display"/>
              </a:rPr>
              <a:t>Work with your partner/group to finish your slide on protocols from last lesson.</a:t>
            </a:r>
          </a:p>
          <a:p>
            <a:pPr algn="ctr">
              <a:lnSpc>
                <a:spcPts val="10079"/>
              </a:lnSpc>
            </a:pPr>
            <a:endParaRPr lang="en-US" sz="7199">
              <a:solidFill>
                <a:srgbClr val="000C7D"/>
              </a:solidFill>
              <a:latin typeface="ADLaM Display"/>
              <a:ea typeface="ADLaM Display"/>
              <a:cs typeface="ADLaM Display"/>
              <a:sym typeface="ADLaM Display"/>
            </a:endParaRPr>
          </a:p>
          <a:p>
            <a:pPr algn="ctr">
              <a:lnSpc>
                <a:spcPts val="10079"/>
              </a:lnSpc>
            </a:pPr>
            <a:r>
              <a:rPr lang="en-US" sz="7199">
                <a:solidFill>
                  <a:srgbClr val="000C7D"/>
                </a:solidFill>
                <a:latin typeface="ADLaM Display"/>
                <a:ea typeface="ADLaM Display"/>
                <a:cs typeface="ADLaM Display"/>
                <a:sym typeface="ADLaM Display"/>
              </a:rPr>
              <a:t>Ensure you include </a:t>
            </a:r>
          </a:p>
          <a:p>
            <a:pPr algn="ctr">
              <a:lnSpc>
                <a:spcPts val="10079"/>
              </a:lnSpc>
            </a:pPr>
            <a:r>
              <a:rPr lang="en-US" sz="7199">
                <a:solidFill>
                  <a:srgbClr val="000C7D"/>
                </a:solidFill>
                <a:latin typeface="ADLaM Display"/>
                <a:ea typeface="ADLaM Display"/>
                <a:cs typeface="ADLaM Display"/>
                <a:sym typeface="ADLaM Display"/>
              </a:rPr>
              <a:t>-What it does</a:t>
            </a:r>
          </a:p>
          <a:p>
            <a:pPr algn="ctr">
              <a:lnSpc>
                <a:spcPts val="10079"/>
              </a:lnSpc>
            </a:pPr>
            <a:r>
              <a:rPr lang="en-US" sz="7199">
                <a:solidFill>
                  <a:srgbClr val="000C7D"/>
                </a:solidFill>
                <a:latin typeface="ADLaM Display"/>
                <a:ea typeface="ADLaM Display"/>
                <a:cs typeface="ADLaM Display"/>
                <a:sym typeface="ADLaM Display"/>
              </a:rPr>
              <a:t>-Where it sits in the OSI Layer model</a:t>
            </a:r>
          </a:p>
          <a:p>
            <a:pPr algn="ctr">
              <a:lnSpc>
                <a:spcPts val="10079"/>
              </a:lnSpc>
            </a:pPr>
            <a:r>
              <a:rPr lang="en-US" sz="7199">
                <a:solidFill>
                  <a:srgbClr val="000C7D"/>
                </a:solidFill>
                <a:latin typeface="ADLaM Display"/>
                <a:ea typeface="ADLaM Display"/>
                <a:cs typeface="ADLaM Display"/>
                <a:sym typeface="ADLaM Display"/>
              </a:rPr>
              <a:t>-An example in real life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2"/>
            <a:stretch>
              <a:fillRect/>
            </a:stretch>
          </a:blipFill>
        </p:spPr>
        <p:txBody>
          <a:bodyPr/>
          <a:lstStyle/>
          <a:p>
            <a:endParaRPr lang="en-GB"/>
          </a:p>
        </p:txBody>
      </p:sp>
      <p:sp>
        <p:nvSpPr>
          <p:cNvPr id="3" name="Freeform 3"/>
          <p:cNvSpPr/>
          <p:nvPr/>
        </p:nvSpPr>
        <p:spPr>
          <a:xfrm>
            <a:off x="5159499" y="2311910"/>
            <a:ext cx="7124503" cy="6946390"/>
          </a:xfrm>
          <a:custGeom>
            <a:avLst/>
            <a:gdLst/>
            <a:ahLst/>
            <a:cxnLst/>
            <a:rect l="l" t="t" r="r" b="b"/>
            <a:pathLst>
              <a:path w="7124503" h="6946390">
                <a:moveTo>
                  <a:pt x="0" y="0"/>
                </a:moveTo>
                <a:lnTo>
                  <a:pt x="7124503" y="0"/>
                </a:lnTo>
                <a:lnTo>
                  <a:pt x="7124503" y="6946390"/>
                </a:lnTo>
                <a:lnTo>
                  <a:pt x="0" y="694639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4876800" y="404918"/>
            <a:ext cx="8251701" cy="1226823"/>
          </a:xfrm>
          <a:prstGeom prst="rect">
            <a:avLst/>
          </a:prstGeom>
        </p:spPr>
        <p:txBody>
          <a:bodyPr wrap="square" lIns="0" tIns="0" rIns="0" bIns="0" rtlCol="0" anchor="t">
            <a:spAutoFit/>
          </a:bodyPr>
          <a:lstStyle/>
          <a:p>
            <a:pPr algn="ctr">
              <a:lnSpc>
                <a:spcPts val="10079"/>
              </a:lnSpc>
            </a:pPr>
            <a:r>
              <a:rPr lang="en-US" sz="7199" dirty="0">
                <a:solidFill>
                  <a:srgbClr val="000C7D"/>
                </a:solidFill>
                <a:latin typeface="ADLaM Display"/>
                <a:ea typeface="ADLaM Display"/>
                <a:cs typeface="ADLaM Display"/>
                <a:sym typeface="ADLaM Display"/>
              </a:rPr>
              <a:t>Presentation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6019801" y="404918"/>
            <a:ext cx="6026720" cy="1226823"/>
          </a:xfrm>
          <a:prstGeom prst="rect">
            <a:avLst/>
          </a:prstGeom>
        </p:spPr>
        <p:txBody>
          <a:bodyPr wrap="square" lIns="0" tIns="0" rIns="0" bIns="0" rtlCol="0" anchor="t">
            <a:spAutoFit/>
          </a:bodyPr>
          <a:lstStyle/>
          <a:p>
            <a:pPr algn="ctr">
              <a:lnSpc>
                <a:spcPts val="10079"/>
              </a:lnSpc>
            </a:pPr>
            <a:r>
              <a:rPr lang="en-US" sz="7199" dirty="0">
                <a:solidFill>
                  <a:srgbClr val="000C7D"/>
                </a:solidFill>
                <a:latin typeface="ADLaM Display"/>
                <a:ea typeface="ADLaM Display"/>
                <a:cs typeface="ADLaM Display"/>
                <a:sym typeface="ADLaM Display"/>
              </a:rPr>
              <a:t>Peer Marking</a:t>
            </a:r>
          </a:p>
        </p:txBody>
      </p:sp>
      <p:sp>
        <p:nvSpPr>
          <p:cNvPr id="5" name="TextBox 5"/>
          <p:cNvSpPr txBox="1"/>
          <p:nvPr/>
        </p:nvSpPr>
        <p:spPr>
          <a:xfrm>
            <a:off x="0" y="1967863"/>
            <a:ext cx="18288000" cy="2442846"/>
          </a:xfrm>
          <a:prstGeom prst="rect">
            <a:avLst/>
          </a:prstGeom>
        </p:spPr>
        <p:txBody>
          <a:bodyPr lIns="0" tIns="0" rIns="0" bIns="0" rtlCol="0" anchor="t">
            <a:spAutoFit/>
          </a:bodyPr>
          <a:lstStyle/>
          <a:p>
            <a:pPr algn="ctr">
              <a:lnSpc>
                <a:spcPts val="6579"/>
              </a:lnSpc>
              <a:spcBef>
                <a:spcPct val="0"/>
              </a:spcBef>
            </a:pPr>
            <a:r>
              <a:rPr lang="en-US" sz="4699">
                <a:solidFill>
                  <a:srgbClr val="000C7D"/>
                </a:solidFill>
                <a:latin typeface="ADLaM Display"/>
                <a:ea typeface="ADLaM Display"/>
                <a:cs typeface="ADLaM Display"/>
                <a:sym typeface="ADLaM Display"/>
              </a:rPr>
              <a:t>We’re not grading each other — we’re giving professional-style feedback, just like colleagues do in industry. Our goal is to help each other improve, not to judge</a:t>
            </a:r>
          </a:p>
        </p:txBody>
      </p:sp>
      <p:sp>
        <p:nvSpPr>
          <p:cNvPr id="6" name="TextBox 6"/>
          <p:cNvSpPr txBox="1"/>
          <p:nvPr/>
        </p:nvSpPr>
        <p:spPr>
          <a:xfrm>
            <a:off x="110613" y="5826328"/>
            <a:ext cx="18066773" cy="2442846"/>
          </a:xfrm>
          <a:prstGeom prst="rect">
            <a:avLst/>
          </a:prstGeom>
        </p:spPr>
        <p:txBody>
          <a:bodyPr lIns="0" tIns="0" rIns="0" bIns="0" rtlCol="0" anchor="t">
            <a:spAutoFit/>
          </a:bodyPr>
          <a:lstStyle/>
          <a:p>
            <a:pPr algn="ctr">
              <a:lnSpc>
                <a:spcPts val="6579"/>
              </a:lnSpc>
              <a:spcBef>
                <a:spcPct val="0"/>
              </a:spcBef>
            </a:pPr>
            <a:r>
              <a:rPr lang="en-US" sz="4699">
                <a:solidFill>
                  <a:srgbClr val="000C7D"/>
                </a:solidFill>
                <a:latin typeface="ADLaM Display"/>
                <a:ea typeface="ADLaM Display"/>
                <a:cs typeface="ADLaM Display"/>
                <a:sym typeface="ADLaM Display"/>
              </a:rPr>
              <a:t>❌ “That was confusing.”</a:t>
            </a:r>
          </a:p>
          <a:p>
            <a:pPr algn="ctr">
              <a:lnSpc>
                <a:spcPts val="6579"/>
              </a:lnSpc>
              <a:spcBef>
                <a:spcPct val="0"/>
              </a:spcBef>
            </a:pPr>
            <a:r>
              <a:rPr lang="en-US" sz="4699">
                <a:solidFill>
                  <a:srgbClr val="000C7D"/>
                </a:solidFill>
                <a:latin typeface="ADLaM Display"/>
                <a:ea typeface="ADLaM Display"/>
                <a:cs typeface="ADLaM Display"/>
                <a:sym typeface="ADLaM Display"/>
              </a:rPr>
              <a:t>✅ “Your explanation of POP was clear — you could make it even stronger by adding how it compares to IMAP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7489732" y="6885484"/>
            <a:ext cx="2774330" cy="2955345"/>
          </a:xfrm>
          <a:custGeom>
            <a:avLst/>
            <a:gdLst/>
            <a:ahLst/>
            <a:cxnLst/>
            <a:rect l="l" t="t" r="r" b="b"/>
            <a:pathLst>
              <a:path w="2774330" h="2955345">
                <a:moveTo>
                  <a:pt x="0" y="0"/>
                </a:moveTo>
                <a:lnTo>
                  <a:pt x="2774330" y="0"/>
                </a:lnTo>
                <a:lnTo>
                  <a:pt x="2774330" y="2955346"/>
                </a:lnTo>
                <a:lnTo>
                  <a:pt x="0" y="2955346"/>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5181600" y="385868"/>
            <a:ext cx="7748365"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Protocol Match</a:t>
            </a:r>
          </a:p>
        </p:txBody>
      </p:sp>
      <p:sp>
        <p:nvSpPr>
          <p:cNvPr id="6" name="TextBox 6"/>
          <p:cNvSpPr txBox="1"/>
          <p:nvPr/>
        </p:nvSpPr>
        <p:spPr>
          <a:xfrm>
            <a:off x="0" y="2102658"/>
            <a:ext cx="17910633" cy="4316101"/>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As a class, can you match the protocols to the layers of the OSI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0" y="385868"/>
            <a:ext cx="18288000" cy="2858776"/>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Protocols are essentially specialist workers on a team</a:t>
            </a:r>
          </a:p>
        </p:txBody>
      </p:sp>
      <p:sp>
        <p:nvSpPr>
          <p:cNvPr id="5" name="TextBox 5"/>
          <p:cNvSpPr txBox="1"/>
          <p:nvPr/>
        </p:nvSpPr>
        <p:spPr>
          <a:xfrm>
            <a:off x="0" y="3793463"/>
            <a:ext cx="17910633" cy="4316101"/>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Each has a specific job at it’s layer, and they hand off data to the next person in 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5867401" y="385868"/>
            <a:ext cx="6114454"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Web access</a:t>
            </a:r>
          </a:p>
        </p:txBody>
      </p:sp>
      <p:sp>
        <p:nvSpPr>
          <p:cNvPr id="5" name="TextBox 5"/>
          <p:cNvSpPr txBox="1"/>
          <p:nvPr/>
        </p:nvSpPr>
        <p:spPr>
          <a:xfrm>
            <a:off x="2438400" y="1935333"/>
            <a:ext cx="12895616" cy="1019177"/>
          </a:xfrm>
          <a:prstGeom prst="rect">
            <a:avLst/>
          </a:prstGeom>
        </p:spPr>
        <p:txBody>
          <a:bodyPr wrap="square" lIns="0" tIns="0" rIns="0" bIns="0" rtlCol="0" anchor="t">
            <a:spAutoFit/>
          </a:bodyPr>
          <a:lstStyle/>
          <a:p>
            <a:pPr marL="1295387" lvl="1" indent="-647694" algn="ctr">
              <a:lnSpc>
                <a:spcPts val="8399"/>
              </a:lnSpc>
              <a:buAutoNum type="arabicPeriod"/>
            </a:pPr>
            <a:r>
              <a:rPr lang="en-US" sz="5999" dirty="0">
                <a:solidFill>
                  <a:srgbClr val="000C7D"/>
                </a:solidFill>
                <a:latin typeface="ADLaM Display"/>
                <a:ea typeface="ADLaM Display"/>
                <a:cs typeface="ADLaM Display"/>
                <a:sym typeface="ADLaM Display"/>
              </a:rPr>
              <a:t>DNS resolves the website name</a:t>
            </a:r>
          </a:p>
        </p:txBody>
      </p:sp>
      <p:sp>
        <p:nvSpPr>
          <p:cNvPr id="6" name="TextBox 6"/>
          <p:cNvSpPr txBox="1"/>
          <p:nvPr/>
        </p:nvSpPr>
        <p:spPr>
          <a:xfrm>
            <a:off x="-173821" y="3229465"/>
            <a:ext cx="18461821" cy="1019177"/>
          </a:xfrm>
          <a:prstGeom prst="rect">
            <a:avLst/>
          </a:prstGeom>
        </p:spPr>
        <p:txBody>
          <a:bodyPr lIns="0" tIns="0" rIns="0" bIns="0" rtlCol="0" anchor="t">
            <a:spAutoFit/>
          </a:bodyPr>
          <a:lstStyle/>
          <a:p>
            <a:pPr algn="ctr">
              <a:lnSpc>
                <a:spcPts val="8399"/>
              </a:lnSpc>
            </a:pPr>
            <a:r>
              <a:rPr lang="en-US" sz="5999">
                <a:solidFill>
                  <a:srgbClr val="000C7D"/>
                </a:solidFill>
                <a:latin typeface="ADLaM Display"/>
                <a:ea typeface="ADLaM Display"/>
                <a:cs typeface="ADLaM Display"/>
                <a:sym typeface="ADLaM Display"/>
              </a:rPr>
              <a:t>2. HTTP/HTTPS sends a request using that IP</a:t>
            </a:r>
          </a:p>
        </p:txBody>
      </p:sp>
      <p:sp>
        <p:nvSpPr>
          <p:cNvPr id="7" name="TextBox 7"/>
          <p:cNvSpPr txBox="1"/>
          <p:nvPr/>
        </p:nvSpPr>
        <p:spPr>
          <a:xfrm>
            <a:off x="-275594" y="4505959"/>
            <a:ext cx="18461821" cy="1038225"/>
          </a:xfrm>
          <a:prstGeom prst="rect">
            <a:avLst/>
          </a:prstGeom>
        </p:spPr>
        <p:txBody>
          <a:bodyPr lIns="0" tIns="0" rIns="0" bIns="0" rtlCol="0" anchor="t">
            <a:spAutoFit/>
          </a:bodyPr>
          <a:lstStyle/>
          <a:p>
            <a:pPr algn="ctr">
              <a:lnSpc>
                <a:spcPts val="8400"/>
              </a:lnSpc>
            </a:pPr>
            <a:r>
              <a:rPr lang="en-US" sz="6000">
                <a:solidFill>
                  <a:srgbClr val="000C7D"/>
                </a:solidFill>
                <a:latin typeface="ADLaM Display"/>
                <a:ea typeface="ADLaM Display"/>
                <a:cs typeface="ADLaM Display"/>
                <a:sym typeface="ADLaM Display"/>
              </a:rPr>
              <a:t>3. TCP manages reliable transmission</a:t>
            </a:r>
          </a:p>
        </p:txBody>
      </p:sp>
      <p:sp>
        <p:nvSpPr>
          <p:cNvPr id="8" name="TextBox 8"/>
          <p:cNvSpPr txBox="1"/>
          <p:nvPr/>
        </p:nvSpPr>
        <p:spPr>
          <a:xfrm>
            <a:off x="-173821" y="5687059"/>
            <a:ext cx="18461821" cy="2105025"/>
          </a:xfrm>
          <a:prstGeom prst="rect">
            <a:avLst/>
          </a:prstGeom>
        </p:spPr>
        <p:txBody>
          <a:bodyPr lIns="0" tIns="0" rIns="0" bIns="0" rtlCol="0" anchor="t">
            <a:spAutoFit/>
          </a:bodyPr>
          <a:lstStyle/>
          <a:p>
            <a:pPr algn="ctr">
              <a:lnSpc>
                <a:spcPts val="8400"/>
              </a:lnSpc>
            </a:pPr>
            <a:r>
              <a:rPr lang="en-US" sz="6000">
                <a:solidFill>
                  <a:srgbClr val="000C7D"/>
                </a:solidFill>
                <a:latin typeface="ADLaM Display"/>
                <a:ea typeface="ADLaM Display"/>
                <a:cs typeface="ADLaM Display"/>
                <a:sym typeface="ADLaM Display"/>
              </a:rPr>
              <a:t>4. IP routes the packet to the correct destination using routing protocols (RIP/OSPF)</a:t>
            </a:r>
          </a:p>
        </p:txBody>
      </p:sp>
      <p:sp>
        <p:nvSpPr>
          <p:cNvPr id="9" name="TextBox 9"/>
          <p:cNvSpPr txBox="1"/>
          <p:nvPr/>
        </p:nvSpPr>
        <p:spPr>
          <a:xfrm>
            <a:off x="-173821" y="7982584"/>
            <a:ext cx="18461821" cy="1038225"/>
          </a:xfrm>
          <a:prstGeom prst="rect">
            <a:avLst/>
          </a:prstGeom>
        </p:spPr>
        <p:txBody>
          <a:bodyPr lIns="0" tIns="0" rIns="0" bIns="0" rtlCol="0" anchor="t">
            <a:spAutoFit/>
          </a:bodyPr>
          <a:lstStyle/>
          <a:p>
            <a:pPr algn="ctr">
              <a:lnSpc>
                <a:spcPts val="8400"/>
              </a:lnSpc>
            </a:pPr>
            <a:r>
              <a:rPr lang="en-US" sz="6000">
                <a:solidFill>
                  <a:srgbClr val="000C7D"/>
                </a:solidFill>
                <a:latin typeface="ADLaM Display"/>
                <a:ea typeface="ADLaM Display"/>
                <a:cs typeface="ADLaM Display"/>
                <a:sym typeface="ADLaM Display"/>
              </a:rPr>
              <a:t>5. Ethernet/Wi-fi delivers the packets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5257800" y="385868"/>
            <a:ext cx="7374433"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Email Transfer</a:t>
            </a:r>
          </a:p>
        </p:txBody>
      </p:sp>
      <p:sp>
        <p:nvSpPr>
          <p:cNvPr id="5" name="TextBox 5"/>
          <p:cNvSpPr txBox="1"/>
          <p:nvPr/>
        </p:nvSpPr>
        <p:spPr>
          <a:xfrm>
            <a:off x="1199734" y="1935333"/>
            <a:ext cx="15511165" cy="1019177"/>
          </a:xfrm>
          <a:prstGeom prst="rect">
            <a:avLst/>
          </a:prstGeom>
        </p:spPr>
        <p:txBody>
          <a:bodyPr lIns="0" tIns="0" rIns="0" bIns="0" rtlCol="0" anchor="t">
            <a:spAutoFit/>
          </a:bodyPr>
          <a:lstStyle/>
          <a:p>
            <a:pPr marL="1295387" lvl="1" indent="-647694" algn="ctr">
              <a:lnSpc>
                <a:spcPts val="8399"/>
              </a:lnSpc>
              <a:buAutoNum type="arabicPeriod"/>
            </a:pPr>
            <a:r>
              <a:rPr lang="en-US" sz="5999">
                <a:solidFill>
                  <a:srgbClr val="000C7D"/>
                </a:solidFill>
                <a:latin typeface="ADLaM Display"/>
                <a:ea typeface="ADLaM Display"/>
                <a:cs typeface="ADLaM Display"/>
                <a:sym typeface="ADLaM Display"/>
              </a:rPr>
              <a:t>SMTP sends mail from sender to server</a:t>
            </a:r>
          </a:p>
        </p:txBody>
      </p:sp>
      <p:sp>
        <p:nvSpPr>
          <p:cNvPr id="6" name="TextBox 6"/>
          <p:cNvSpPr txBox="1"/>
          <p:nvPr/>
        </p:nvSpPr>
        <p:spPr>
          <a:xfrm>
            <a:off x="-173821" y="3229465"/>
            <a:ext cx="18461821" cy="2076452"/>
          </a:xfrm>
          <a:prstGeom prst="rect">
            <a:avLst/>
          </a:prstGeom>
        </p:spPr>
        <p:txBody>
          <a:bodyPr lIns="0" tIns="0" rIns="0" bIns="0" rtlCol="0" anchor="t">
            <a:spAutoFit/>
          </a:bodyPr>
          <a:lstStyle/>
          <a:p>
            <a:pPr algn="ctr">
              <a:lnSpc>
                <a:spcPts val="8399"/>
              </a:lnSpc>
            </a:pPr>
            <a:r>
              <a:rPr lang="en-US" sz="5999">
                <a:solidFill>
                  <a:srgbClr val="000C7D"/>
                </a:solidFill>
                <a:latin typeface="ADLaM Display"/>
                <a:ea typeface="ADLaM Display"/>
                <a:cs typeface="ADLaM Display"/>
                <a:sym typeface="ADLaM Display"/>
              </a:rPr>
              <a:t>2. DNS uses MX records to find the destination mail server</a:t>
            </a:r>
          </a:p>
        </p:txBody>
      </p:sp>
      <p:sp>
        <p:nvSpPr>
          <p:cNvPr id="7" name="TextBox 7"/>
          <p:cNvSpPr txBox="1"/>
          <p:nvPr/>
        </p:nvSpPr>
        <p:spPr>
          <a:xfrm>
            <a:off x="-386207" y="5635828"/>
            <a:ext cx="18461821" cy="1038225"/>
          </a:xfrm>
          <a:prstGeom prst="rect">
            <a:avLst/>
          </a:prstGeom>
        </p:spPr>
        <p:txBody>
          <a:bodyPr lIns="0" tIns="0" rIns="0" bIns="0" rtlCol="0" anchor="t">
            <a:spAutoFit/>
          </a:bodyPr>
          <a:lstStyle/>
          <a:p>
            <a:pPr algn="ctr">
              <a:lnSpc>
                <a:spcPts val="8400"/>
              </a:lnSpc>
            </a:pPr>
            <a:r>
              <a:rPr lang="en-US" sz="6000">
                <a:solidFill>
                  <a:srgbClr val="000C7D"/>
                </a:solidFill>
                <a:latin typeface="ADLaM Display"/>
                <a:ea typeface="ADLaM Display"/>
                <a:cs typeface="ADLaM Display"/>
                <a:sym typeface="ADLaM Display"/>
              </a:rPr>
              <a:t>4. Recipient retrieves mail via POP or IMAP</a:t>
            </a:r>
          </a:p>
        </p:txBody>
      </p:sp>
      <p:sp>
        <p:nvSpPr>
          <p:cNvPr id="8" name="TextBox 8"/>
          <p:cNvSpPr txBox="1"/>
          <p:nvPr/>
        </p:nvSpPr>
        <p:spPr>
          <a:xfrm>
            <a:off x="-275594" y="6816928"/>
            <a:ext cx="18461821" cy="2105025"/>
          </a:xfrm>
          <a:prstGeom prst="rect">
            <a:avLst/>
          </a:prstGeom>
        </p:spPr>
        <p:txBody>
          <a:bodyPr lIns="0" tIns="0" rIns="0" bIns="0" rtlCol="0" anchor="t">
            <a:spAutoFit/>
          </a:bodyPr>
          <a:lstStyle/>
          <a:p>
            <a:pPr algn="ctr">
              <a:lnSpc>
                <a:spcPts val="8400"/>
              </a:lnSpc>
            </a:pPr>
            <a:r>
              <a:rPr lang="en-US" sz="6000">
                <a:solidFill>
                  <a:srgbClr val="000C7D"/>
                </a:solidFill>
                <a:latin typeface="ADLaM Display"/>
                <a:ea typeface="ADLaM Display"/>
                <a:cs typeface="ADLaM Display"/>
                <a:sym typeface="ADLaM Display"/>
              </a:rPr>
              <a:t>5. TCP/IP handle the transmission across the internet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100484" y="0"/>
            <a:ext cx="18187516" cy="10344150"/>
          </a:xfrm>
          <a:custGeom>
            <a:avLst/>
            <a:gdLst/>
            <a:ahLst/>
            <a:cxnLst/>
            <a:rect l="l" t="t" r="r" b="b"/>
            <a:pathLst>
              <a:path w="18187516" h="10344150">
                <a:moveTo>
                  <a:pt x="0" y="0"/>
                </a:moveTo>
                <a:lnTo>
                  <a:pt x="18187516" y="0"/>
                </a:lnTo>
                <a:lnTo>
                  <a:pt x="18187516" y="10344150"/>
                </a:lnTo>
                <a:lnTo>
                  <a:pt x="0" y="10344150"/>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2399828" y="2062876"/>
            <a:ext cx="13488344" cy="7081380"/>
          </a:xfrm>
          <a:custGeom>
            <a:avLst/>
            <a:gdLst/>
            <a:ahLst/>
            <a:cxnLst/>
            <a:rect l="l" t="t" r="r" b="b"/>
            <a:pathLst>
              <a:path w="13488344" h="7081380">
                <a:moveTo>
                  <a:pt x="0" y="0"/>
                </a:moveTo>
                <a:lnTo>
                  <a:pt x="13488344" y="0"/>
                </a:lnTo>
                <a:lnTo>
                  <a:pt x="13488344" y="7081381"/>
                </a:lnTo>
                <a:lnTo>
                  <a:pt x="0" y="7081381"/>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5638800" y="385868"/>
            <a:ext cx="6708651"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Data Packets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1805079" y="2472397"/>
            <a:ext cx="14262933" cy="5191194"/>
          </a:xfrm>
          <a:custGeom>
            <a:avLst/>
            <a:gdLst/>
            <a:ahLst/>
            <a:cxnLst/>
            <a:rect l="l" t="t" r="r" b="b"/>
            <a:pathLst>
              <a:path w="14262933" h="5191194">
                <a:moveTo>
                  <a:pt x="0" y="0"/>
                </a:moveTo>
                <a:lnTo>
                  <a:pt x="14262933" y="0"/>
                </a:lnTo>
                <a:lnTo>
                  <a:pt x="14262933" y="5191194"/>
                </a:lnTo>
                <a:lnTo>
                  <a:pt x="0" y="5191194"/>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5562600" y="385868"/>
            <a:ext cx="6784851"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Data Packets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4572000" y="385868"/>
            <a:ext cx="8819108" cy="1357295"/>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Packet Switching</a:t>
            </a:r>
          </a:p>
        </p:txBody>
      </p:sp>
      <p:sp>
        <p:nvSpPr>
          <p:cNvPr id="5" name="TextBox 5"/>
          <p:cNvSpPr txBox="1"/>
          <p:nvPr/>
        </p:nvSpPr>
        <p:spPr>
          <a:xfrm>
            <a:off x="0" y="1924593"/>
            <a:ext cx="18288000" cy="2625726"/>
          </a:xfrm>
          <a:prstGeom prst="rect">
            <a:avLst/>
          </a:prstGeom>
        </p:spPr>
        <p:txBody>
          <a:bodyPr lIns="0" tIns="0" rIns="0" bIns="0" rtlCol="0" anchor="t">
            <a:spAutoFit/>
          </a:bodyPr>
          <a:lstStyle/>
          <a:p>
            <a:pPr algn="ctr">
              <a:lnSpc>
                <a:spcPts val="6999"/>
              </a:lnSpc>
            </a:pPr>
            <a:r>
              <a:rPr lang="en-US" sz="4999" dirty="0">
                <a:solidFill>
                  <a:srgbClr val="000C7D"/>
                </a:solidFill>
                <a:latin typeface="ADLaM Display"/>
                <a:ea typeface="ADLaM Display"/>
                <a:cs typeface="ADLaM Display"/>
                <a:sym typeface="ADLaM Display"/>
              </a:rPr>
              <a:t>This is where the data packet is divided into smaller data packets and transmitted individually instead of one large data packet. It is used to reduce the chances of lost packets</a:t>
            </a:r>
          </a:p>
        </p:txBody>
      </p:sp>
      <p:sp>
        <p:nvSpPr>
          <p:cNvPr id="6" name="TextBox 6"/>
          <p:cNvSpPr txBox="1"/>
          <p:nvPr/>
        </p:nvSpPr>
        <p:spPr>
          <a:xfrm>
            <a:off x="209989" y="4952942"/>
            <a:ext cx="18078011" cy="2625726"/>
          </a:xfrm>
          <a:prstGeom prst="rect">
            <a:avLst/>
          </a:prstGeom>
        </p:spPr>
        <p:txBody>
          <a:bodyPr lIns="0" tIns="0" rIns="0" bIns="0" rtlCol="0" anchor="t">
            <a:spAutoFit/>
          </a:bodyPr>
          <a:lstStyle/>
          <a:p>
            <a:pPr algn="ctr">
              <a:lnSpc>
                <a:spcPts val="6999"/>
              </a:lnSpc>
            </a:pPr>
            <a:r>
              <a:rPr lang="en-US" sz="4999">
                <a:solidFill>
                  <a:srgbClr val="000C7D"/>
                </a:solidFill>
                <a:latin typeface="ADLaM Display"/>
                <a:ea typeface="ADLaM Display"/>
                <a:cs typeface="ADLaM Display"/>
                <a:sym typeface="ADLaM Display"/>
              </a:rPr>
              <a:t>Packets are not necessarily routed along the same path in the network. This results in the packets arriving out of order. The destination reconstructs the packets in order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5409287" y="2627844"/>
            <a:ext cx="7221658" cy="6499492"/>
          </a:xfrm>
          <a:custGeom>
            <a:avLst/>
            <a:gdLst/>
            <a:ahLst/>
            <a:cxnLst/>
            <a:rect l="l" t="t" r="r" b="b"/>
            <a:pathLst>
              <a:path w="7221658" h="6499492">
                <a:moveTo>
                  <a:pt x="0" y="0"/>
                </a:moveTo>
                <a:lnTo>
                  <a:pt x="7221658" y="0"/>
                </a:lnTo>
                <a:lnTo>
                  <a:pt x="7221658" y="6499493"/>
                </a:lnTo>
                <a:lnTo>
                  <a:pt x="0" y="649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2905646" y="385868"/>
            <a:ext cx="12476708" cy="1401451"/>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What causes packet loss?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7261422" y="3464212"/>
            <a:ext cx="4431792" cy="2919443"/>
          </a:xfrm>
          <a:custGeom>
            <a:avLst/>
            <a:gdLst/>
            <a:ahLst/>
            <a:cxnLst/>
            <a:rect l="l" t="t" r="r" b="b"/>
            <a:pathLst>
              <a:path w="4431792" h="2919443">
                <a:moveTo>
                  <a:pt x="0" y="0"/>
                </a:moveTo>
                <a:lnTo>
                  <a:pt x="4431792" y="0"/>
                </a:lnTo>
                <a:lnTo>
                  <a:pt x="4431792" y="2919442"/>
                </a:lnTo>
                <a:lnTo>
                  <a:pt x="0" y="2919442"/>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0" y="386360"/>
            <a:ext cx="18288000" cy="2858776"/>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What is meant by the term network latency?</a:t>
            </a:r>
          </a:p>
        </p:txBody>
      </p:sp>
      <p:sp>
        <p:nvSpPr>
          <p:cNvPr id="6" name="TextBox 6"/>
          <p:cNvSpPr txBox="1"/>
          <p:nvPr/>
        </p:nvSpPr>
        <p:spPr>
          <a:xfrm>
            <a:off x="0" y="6450821"/>
            <a:ext cx="18288000" cy="2858776"/>
          </a:xfrm>
          <a:prstGeom prst="rect">
            <a:avLst/>
          </a:prstGeom>
        </p:spPr>
        <p:txBody>
          <a:bodyPr lIns="0" tIns="0" rIns="0" bIns="0" rtlCol="0" anchor="t">
            <a:spAutoFit/>
          </a:bodyPr>
          <a:lstStyle/>
          <a:p>
            <a:pPr algn="ctr">
              <a:lnSpc>
                <a:spcPts val="11479"/>
              </a:lnSpc>
            </a:pPr>
            <a:r>
              <a:rPr lang="en-US" sz="8199">
                <a:solidFill>
                  <a:srgbClr val="000C7D"/>
                </a:solidFill>
                <a:latin typeface="ADLaM Display"/>
                <a:ea typeface="ADLaM Display"/>
                <a:cs typeface="ADLaM Display"/>
                <a:sym typeface="ADLaM Display"/>
              </a:rPr>
              <a:t>What is meant by the term network bandwidth?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4"/>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pic>
        <p:nvPicPr>
          <p:cNvPr id="4" name="Picture 4"/>
          <p:cNvPicPr>
            <a:picLocks noChangeAspect="1"/>
          </p:cNvPicPr>
          <p:nvPr>
            <a:videoFile r:link="rId1"/>
          </p:nvPr>
        </p:nvPicPr>
        <p:blipFill>
          <a:blip r:embed="rId5"/>
          <a:stretch>
            <a:fillRect/>
          </a:stretch>
        </p:blipFill>
        <p:spPr>
          <a:xfrm>
            <a:off x="2044312" y="463924"/>
            <a:ext cx="14641830" cy="8229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Freeform 3"/>
          <p:cNvSpPr/>
          <p:nvPr/>
        </p:nvSpPr>
        <p:spPr>
          <a:xfrm>
            <a:off x="5237622" y="2169589"/>
            <a:ext cx="7083885" cy="7200900"/>
          </a:xfrm>
          <a:custGeom>
            <a:avLst/>
            <a:gdLst/>
            <a:ahLst/>
            <a:cxnLst/>
            <a:rect l="l" t="t" r="r" b="b"/>
            <a:pathLst>
              <a:path w="7083885" h="7200900">
                <a:moveTo>
                  <a:pt x="0" y="0"/>
                </a:moveTo>
                <a:lnTo>
                  <a:pt x="7083885" y="0"/>
                </a:lnTo>
                <a:lnTo>
                  <a:pt x="7083885"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TextBox 4"/>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5" name="TextBox 5"/>
          <p:cNvSpPr txBox="1"/>
          <p:nvPr/>
        </p:nvSpPr>
        <p:spPr>
          <a:xfrm>
            <a:off x="2667000" y="385868"/>
            <a:ext cx="12764393"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Cyclic Redundancy Check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249696" y="7455489"/>
            <a:ext cx="2577001" cy="2577001"/>
          </a:xfrm>
          <a:custGeom>
            <a:avLst/>
            <a:gdLst/>
            <a:ahLst/>
            <a:cxnLst/>
            <a:rect l="l" t="t" r="r" b="b"/>
            <a:pathLst>
              <a:path w="2577001" h="2577001">
                <a:moveTo>
                  <a:pt x="0" y="0"/>
                </a:moveTo>
                <a:lnTo>
                  <a:pt x="2577001" y="0"/>
                </a:lnTo>
                <a:lnTo>
                  <a:pt x="2577001" y="2577001"/>
                </a:lnTo>
                <a:lnTo>
                  <a:pt x="0" y="2577001"/>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7489732" y="3435894"/>
            <a:ext cx="9525" cy="2057059"/>
          </a:xfrm>
          <a:prstGeom prst="rect">
            <a:avLst/>
          </a:prstGeom>
        </p:spPr>
        <p:txBody>
          <a:bodyPr lIns="0" tIns="0" rIns="0" bIns="0" rtlCol="0" anchor="t">
            <a:spAutoFit/>
          </a:bodyPr>
          <a:lstStyle/>
          <a:p>
            <a:pPr algn="ctr">
              <a:lnSpc>
                <a:spcPts val="16818"/>
              </a:lnSpc>
              <a:spcBef>
                <a:spcPct val="0"/>
              </a:spcBef>
            </a:pPr>
            <a:endParaRPr/>
          </a:p>
        </p:txBody>
      </p:sp>
      <p:sp>
        <p:nvSpPr>
          <p:cNvPr id="4" name="TextBox 4"/>
          <p:cNvSpPr txBox="1"/>
          <p:nvPr/>
        </p:nvSpPr>
        <p:spPr>
          <a:xfrm>
            <a:off x="6553200" y="54028"/>
            <a:ext cx="4985519" cy="1401451"/>
          </a:xfrm>
          <a:prstGeom prst="rect">
            <a:avLst/>
          </a:prstGeom>
        </p:spPr>
        <p:txBody>
          <a:bodyPr wrap="square" lIns="0" tIns="0" rIns="0" bIns="0" rtlCol="0" anchor="t">
            <a:spAutoFit/>
          </a:bodyPr>
          <a:lstStyle/>
          <a:p>
            <a:pPr algn="ctr">
              <a:lnSpc>
                <a:spcPts val="11479"/>
              </a:lnSpc>
            </a:pPr>
            <a:r>
              <a:rPr lang="en-US" sz="8199" dirty="0">
                <a:solidFill>
                  <a:srgbClr val="000C7D"/>
                </a:solidFill>
                <a:latin typeface="ADLaM Display"/>
                <a:ea typeface="ADLaM Display"/>
                <a:cs typeface="ADLaM Display"/>
                <a:sym typeface="ADLaM Display"/>
              </a:rPr>
              <a:t>Task Brief</a:t>
            </a:r>
          </a:p>
        </p:txBody>
      </p:sp>
      <p:sp>
        <p:nvSpPr>
          <p:cNvPr id="5" name="TextBox 5"/>
          <p:cNvSpPr txBox="1"/>
          <p:nvPr/>
        </p:nvSpPr>
        <p:spPr>
          <a:xfrm>
            <a:off x="0" y="1530500"/>
            <a:ext cx="17910633" cy="1739901"/>
          </a:xfrm>
          <a:prstGeom prst="rect">
            <a:avLst/>
          </a:prstGeom>
        </p:spPr>
        <p:txBody>
          <a:bodyPr lIns="0" tIns="0" rIns="0" bIns="0" rtlCol="0" anchor="t">
            <a:spAutoFit/>
          </a:bodyPr>
          <a:lstStyle/>
          <a:p>
            <a:pPr algn="ctr">
              <a:lnSpc>
                <a:spcPts val="6999"/>
              </a:lnSpc>
            </a:pPr>
            <a:r>
              <a:rPr lang="en-US" sz="4999">
                <a:solidFill>
                  <a:srgbClr val="000C7D"/>
                </a:solidFill>
                <a:latin typeface="ADLaM Display"/>
                <a:ea typeface="ADLaM Display"/>
                <a:cs typeface="ADLaM Display"/>
                <a:sym typeface="ADLaM Display"/>
              </a:rPr>
              <a:t>Create an infographic comparing the OSI model and the TCP/IP model</a:t>
            </a:r>
          </a:p>
        </p:txBody>
      </p:sp>
      <p:sp>
        <p:nvSpPr>
          <p:cNvPr id="6" name="TextBox 6"/>
          <p:cNvSpPr txBox="1"/>
          <p:nvPr/>
        </p:nvSpPr>
        <p:spPr>
          <a:xfrm>
            <a:off x="0" y="3365651"/>
            <a:ext cx="18288000" cy="4908550"/>
          </a:xfrm>
          <a:prstGeom prst="rect">
            <a:avLst/>
          </a:prstGeom>
        </p:spPr>
        <p:txBody>
          <a:bodyPr lIns="0" tIns="0" rIns="0" bIns="0" rtlCol="0" anchor="t">
            <a:spAutoFit/>
          </a:bodyPr>
          <a:lstStyle/>
          <a:p>
            <a:pPr algn="ctr">
              <a:lnSpc>
                <a:spcPts val="5599"/>
              </a:lnSpc>
            </a:pPr>
            <a:r>
              <a:rPr lang="en-US" sz="3999">
                <a:solidFill>
                  <a:srgbClr val="000C7D"/>
                </a:solidFill>
                <a:latin typeface="ADLaM Display"/>
                <a:ea typeface="ADLaM Display"/>
                <a:cs typeface="ADLaM Display"/>
                <a:sym typeface="ADLaM Display"/>
              </a:rPr>
              <a:t>Show:</a:t>
            </a:r>
          </a:p>
          <a:p>
            <a:pPr algn="ctr">
              <a:lnSpc>
                <a:spcPts val="5599"/>
              </a:lnSpc>
            </a:pPr>
            <a:r>
              <a:rPr lang="en-US" sz="3999">
                <a:solidFill>
                  <a:srgbClr val="000C7D"/>
                </a:solidFill>
                <a:latin typeface="ADLaM Display"/>
                <a:ea typeface="ADLaM Display"/>
                <a:cs typeface="ADLaM Display"/>
                <a:sym typeface="ADLaM Display"/>
              </a:rPr>
              <a:t>The layers in each model, side by side</a:t>
            </a:r>
          </a:p>
          <a:p>
            <a:pPr algn="ctr">
              <a:lnSpc>
                <a:spcPts val="5599"/>
              </a:lnSpc>
            </a:pPr>
            <a:r>
              <a:rPr lang="en-US" sz="3999">
                <a:solidFill>
                  <a:srgbClr val="000C7D"/>
                </a:solidFill>
                <a:latin typeface="ADLaM Display"/>
                <a:ea typeface="ADLaM Display"/>
                <a:cs typeface="ADLaM Display"/>
                <a:sym typeface="ADLaM Display"/>
              </a:rPr>
              <a:t>Which layers are equivalent or combined</a:t>
            </a:r>
          </a:p>
          <a:p>
            <a:pPr algn="ctr">
              <a:lnSpc>
                <a:spcPts val="5599"/>
              </a:lnSpc>
            </a:pPr>
            <a:r>
              <a:rPr lang="en-US" sz="3999">
                <a:solidFill>
                  <a:srgbClr val="000C7D"/>
                </a:solidFill>
                <a:latin typeface="ADLaM Display"/>
                <a:ea typeface="ADLaM Display"/>
                <a:cs typeface="ADLaM Display"/>
                <a:sym typeface="ADLaM Display"/>
              </a:rPr>
              <a:t>Common protocols that operate at each layer</a:t>
            </a:r>
          </a:p>
          <a:p>
            <a:pPr algn="ctr">
              <a:lnSpc>
                <a:spcPts val="5599"/>
              </a:lnSpc>
            </a:pPr>
            <a:r>
              <a:rPr lang="en-US" sz="3999">
                <a:solidFill>
                  <a:srgbClr val="000C7D"/>
                </a:solidFill>
                <a:latin typeface="ADLaM Display"/>
                <a:ea typeface="ADLaM Display"/>
                <a:cs typeface="ADLaM Display"/>
                <a:sym typeface="ADLaM Display"/>
              </a:rPr>
              <a:t>How data changes state as it moves through layers</a:t>
            </a:r>
          </a:p>
          <a:p>
            <a:pPr algn="ctr">
              <a:lnSpc>
                <a:spcPts val="5599"/>
              </a:lnSpc>
            </a:pPr>
            <a:r>
              <a:rPr lang="en-US" sz="3999">
                <a:solidFill>
                  <a:srgbClr val="000C7D"/>
                </a:solidFill>
                <a:latin typeface="ADLaM Display"/>
                <a:ea typeface="ADLaM Display"/>
                <a:cs typeface="ADLaM Display"/>
                <a:sym typeface="ADLaM Display"/>
              </a:rPr>
              <a:t>At least one visual link showing how the models interact in real world communication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980709" y="3376982"/>
            <a:ext cx="8326582" cy="5537177"/>
          </a:xfrm>
          <a:custGeom>
            <a:avLst/>
            <a:gdLst/>
            <a:ahLst/>
            <a:cxnLst/>
            <a:rect l="l" t="t" r="r" b="b"/>
            <a:pathLst>
              <a:path w="8326582" h="5537177">
                <a:moveTo>
                  <a:pt x="0" y="0"/>
                </a:moveTo>
                <a:lnTo>
                  <a:pt x="8326582" y="0"/>
                </a:lnTo>
                <a:lnTo>
                  <a:pt x="8326582" y="5537177"/>
                </a:lnTo>
                <a:lnTo>
                  <a:pt x="0" y="5537177"/>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0" y="404918"/>
            <a:ext cx="18288000" cy="2503173"/>
          </a:xfrm>
          <a:prstGeom prst="rect">
            <a:avLst/>
          </a:prstGeom>
        </p:spPr>
        <p:txBody>
          <a:bodyPr lIns="0" tIns="0" rIns="0" bIns="0" rtlCol="0" anchor="t">
            <a:spAutoFit/>
          </a:bodyPr>
          <a:lstStyle/>
          <a:p>
            <a:pPr algn="ctr">
              <a:lnSpc>
                <a:spcPts val="10079"/>
              </a:lnSpc>
            </a:pPr>
            <a:r>
              <a:rPr lang="en-US" sz="7199">
                <a:solidFill>
                  <a:srgbClr val="000C7D"/>
                </a:solidFill>
                <a:latin typeface="ADLaM Display"/>
                <a:ea typeface="ADLaM Display"/>
                <a:cs typeface="ADLaM Display"/>
                <a:sym typeface="ADLaM Display"/>
              </a:rPr>
              <a:t>Which failure would cause the most chaos?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192907" y="3766568"/>
            <a:ext cx="5636712" cy="4114800"/>
          </a:xfrm>
          <a:custGeom>
            <a:avLst/>
            <a:gdLst/>
            <a:ahLst/>
            <a:cxnLst/>
            <a:rect l="l" t="t" r="r" b="b"/>
            <a:pathLst>
              <a:path w="5636712" h="4114800">
                <a:moveTo>
                  <a:pt x="0" y="0"/>
                </a:moveTo>
                <a:lnTo>
                  <a:pt x="5636713" y="0"/>
                </a:lnTo>
                <a:lnTo>
                  <a:pt x="56367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TextBox 3"/>
          <p:cNvSpPr txBox="1"/>
          <p:nvPr/>
        </p:nvSpPr>
        <p:spPr>
          <a:xfrm>
            <a:off x="0" y="404918"/>
            <a:ext cx="18288000" cy="2503173"/>
          </a:xfrm>
          <a:prstGeom prst="rect">
            <a:avLst/>
          </a:prstGeom>
        </p:spPr>
        <p:txBody>
          <a:bodyPr lIns="0" tIns="0" rIns="0" bIns="0" rtlCol="0" anchor="t">
            <a:spAutoFit/>
          </a:bodyPr>
          <a:lstStyle/>
          <a:p>
            <a:pPr algn="ctr">
              <a:lnSpc>
                <a:spcPts val="10079"/>
              </a:lnSpc>
            </a:pPr>
            <a:r>
              <a:rPr lang="en-US" sz="7199">
                <a:solidFill>
                  <a:srgbClr val="000C7D"/>
                </a:solidFill>
                <a:latin typeface="ADLaM Display"/>
                <a:ea typeface="ADLaM Display"/>
                <a:cs typeface="ADLaM Display"/>
                <a:sym typeface="ADLaM Display"/>
              </a:rPr>
              <a:t>If you could only keep 3 network protocols, what would they be and why?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F3D0F35BECBD4DAAC17028F29E0D2F" ma:contentTypeVersion="3" ma:contentTypeDescription="Create a new document." ma:contentTypeScope="" ma:versionID="d74a595f8593d6f539211a7bbc50a54b">
  <xsd:schema xmlns:xsd="http://www.w3.org/2001/XMLSchema" xmlns:xs="http://www.w3.org/2001/XMLSchema" xmlns:p="http://schemas.microsoft.com/office/2006/metadata/properties" xmlns:ns2="bc2fa7dd-ef05-4ab0-a50a-4e0e11717674" targetNamespace="http://schemas.microsoft.com/office/2006/metadata/properties" ma:root="true" ma:fieldsID="81cf2bf3f1c9d7773c4c3d089de2172d" ns2:_="">
    <xsd:import namespace="bc2fa7dd-ef05-4ab0-a50a-4e0e1171767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2fa7dd-ef05-4ab0-a50a-4e0e117176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11BA16-A920-414C-9CB8-582DA9A9FF95}"/>
</file>

<file path=customXml/itemProps2.xml><?xml version="1.0" encoding="utf-8"?>
<ds:datastoreItem xmlns:ds="http://schemas.openxmlformats.org/officeDocument/2006/customXml" ds:itemID="{8E27D2DF-0CB1-4493-9AC1-1F61C1EC512A}"/>
</file>

<file path=customXml/itemProps3.xml><?xml version="1.0" encoding="utf-8"?>
<ds:datastoreItem xmlns:ds="http://schemas.openxmlformats.org/officeDocument/2006/customXml" ds:itemID="{167532D0-6923-42C1-8FA8-768C3EF5C189}"/>
</file>

<file path=docProps/app.xml><?xml version="1.0" encoding="utf-8"?>
<Properties xmlns="http://schemas.openxmlformats.org/officeDocument/2006/extended-properties" xmlns:vt="http://schemas.openxmlformats.org/officeDocument/2006/docPropsVTypes">
  <TotalTime>1</TotalTime>
  <Words>877</Words>
  <Application>Microsoft Office PowerPoint</Application>
  <PresentationFormat>Custom</PresentationFormat>
  <Paragraphs>144</Paragraphs>
  <Slides>21</Slides>
  <Notes>14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ADLaM Display</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 3</dc:title>
  <cp:lastModifiedBy>Bobbie Brandybuck</cp:lastModifiedBy>
  <cp:revision>2</cp:revision>
  <dcterms:created xsi:type="dcterms:W3CDTF">2006-08-16T00:00:00Z</dcterms:created>
  <dcterms:modified xsi:type="dcterms:W3CDTF">2025-11-11T09:49:24Z</dcterms:modified>
  <dc:identifier>DAG1sfYVT3w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0x01010033F3D0F35BECBD4DAAC17028F29E0D2F</vt:lpwstr>
  </property>
</Properties>
</file>